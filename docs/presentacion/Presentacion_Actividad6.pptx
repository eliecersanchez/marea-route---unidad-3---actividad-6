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96A75"/>
                </a:solidFill>
              </a:rPr>
              <a:t>Arquitectura de Software - U3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0B3D66"/>
                </a:solidFill>
              </a:rPr>
              <a:t>MAREA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175E8C"/>
                </a:solidFill>
              </a:rPr>
              <a:t>Estrategias de navegacion en la arquitectura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96A75"/>
                </a:solidFill>
              </a:rPr>
              <a:t>Actividad 6 - Navegando mareas   |   Septiembre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88720" y="4846320"/>
          <a:ext cx="9784080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7406640"/>
              </a:tblGrid>
              <a:tr h="4572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Equipo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Omar Vallejo, David Mape, Eliécer Sanchez, Daniel Rodriguez, Volmar Rincon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Roles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Omar: lider; David y Eliécer: arquitectura y UML; Daniel: desarrollador; Volmar: evaluador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Docente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Edward Alfonso Villamizar Vallejo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96A75"/>
                </a:solidFill>
              </a:rPr>
              <a:t>MARCO DEL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0B3D66"/>
                </a:solidFill>
              </a:rPr>
              <a:t>Rutas suboptimas cuando el trafico cambia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0B3D66"/>
                </a:solidFill>
              </a:rPr>
              <a:t>•  </a:t>
            </a:r>
            <a:r>
              <a:rPr sz="1500" b="1">
                <a:solidFill>
                  <a:srgbClr val="212C33"/>
                </a:solidFill>
              </a:rPr>
              <a:t>Problema: </a:t>
            </a:r>
            <a:r>
              <a:rPr sz="1500">
                <a:solidFill>
                  <a:srgbClr val="212C33"/>
                </a:solidFill>
              </a:rPr>
              <a:t>los mapas calculan la ruta mas corta o rapida sobre un plan estatico de la red.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0B3D66"/>
                </a:solidFill>
              </a:rPr>
              <a:t>•  </a:t>
            </a:r>
            <a:r>
              <a:rPr sz="1500" b="1">
                <a:solidFill>
                  <a:srgbClr val="212C33"/>
                </a:solidFill>
              </a:rPr>
              <a:t>Marea de trafico: </a:t>
            </a:r>
            <a:r>
              <a:rPr sz="1500">
                <a:solidFill>
                  <a:srgbClr val="212C33"/>
                </a:solidFill>
              </a:rPr>
              <a:t>en horas pico la congestion satura calles centrales con apariencia de atajo.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0B3D66"/>
                </a:solidFill>
              </a:rPr>
              <a:t>•  </a:t>
            </a:r>
            <a:r>
              <a:rPr sz="1500" b="1">
                <a:solidFill>
                  <a:srgbClr val="212C33"/>
                </a:solidFill>
              </a:rPr>
              <a:t>Ocurre que: </a:t>
            </a:r>
            <a:r>
              <a:rPr sz="1500">
                <a:solidFill>
                  <a:srgbClr val="212C33"/>
                </a:solidFill>
              </a:rPr>
              <a:t>la ruta de menor distancia no es la mas rapida en minutos reales.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0B3D66"/>
                </a:solidFill>
              </a:rPr>
              <a:t>•  </a:t>
            </a:r>
            <a:r>
              <a:rPr sz="1500" b="1">
                <a:solidFill>
                  <a:srgbClr val="212C33"/>
                </a:solidFill>
              </a:rPr>
              <a:t>Pregunta: </a:t>
            </a:r>
            <a:r>
              <a:rPr sz="1500">
                <a:solidFill>
                  <a:srgbClr val="212C33"/>
                </a:solidFill>
              </a:rPr>
              <a:t>como arquitecturar un navegador para que la estrategia sea intercambiable, reaccione a la congestion y presente el recorrido de forma extensible?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96A75"/>
                </a:solidFill>
              </a:rPr>
              <a:t>RELEVANCIA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0B3D66"/>
                </a:solidFill>
              </a:rPr>
              <a:t>Impacto en tres dimensiones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0B3D66"/>
                </a:solidFill>
              </a:rPr>
              <a:t>•  </a:t>
            </a:r>
            <a:r>
              <a:rPr sz="1500" b="1">
                <a:solidFill>
                  <a:srgbClr val="212C33"/>
                </a:solidFill>
              </a:rPr>
              <a:t>Experiencia de usuario: </a:t>
            </a:r>
            <a:r>
              <a:rPr sz="1500">
                <a:solidFill>
                  <a:srgbClr val="212C33"/>
                </a:solidFill>
              </a:rPr>
              <a:t>menos tiempo de viaje, menos estres, instrucciones claras paso a paso.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0B3D66"/>
                </a:solidFill>
              </a:rPr>
              <a:t>•  </a:t>
            </a:r>
            <a:r>
              <a:rPr sz="1500" b="1">
                <a:solidFill>
                  <a:srgbClr val="212C33"/>
                </a:solidFill>
              </a:rPr>
              <a:t>Rendimiento del sistema: </a:t>
            </a:r>
            <a:r>
              <a:rPr sz="1500">
                <a:solidFill>
                  <a:srgbClr val="212C33"/>
                </a:solidFill>
              </a:rPr>
              <a:t>A* reduce nodos explorados y la latencia del servicio de mapas.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0B3D66"/>
                </a:solidFill>
              </a:rPr>
              <a:t>•  </a:t>
            </a:r>
            <a:r>
              <a:rPr sz="1500" b="1">
                <a:solidFill>
                  <a:srgbClr val="212C33"/>
                </a:solidFill>
              </a:rPr>
              <a:t>Eficiencia operativa: </a:t>
            </a:r>
            <a:r>
              <a:rPr sz="1500">
                <a:solidFill>
                  <a:srgbClr val="212C33"/>
                </a:solidFill>
              </a:rPr>
              <a:t>flotas y entregas ahorran combustible y horas-hombre con replanificacion en vivo.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0B3D66"/>
                </a:solidFill>
              </a:rPr>
              <a:t>•  </a:t>
            </a:r>
            <a:r>
              <a:rPr sz="1500" b="1">
                <a:solidFill>
                  <a:srgbClr val="212C33"/>
                </a:solidFill>
              </a:rPr>
              <a:t>Escalabilidad: </a:t>
            </a:r>
            <a:r>
              <a:rPr sz="1500">
                <a:solidFill>
                  <a:srgbClr val="212C33"/>
                </a:solidFill>
              </a:rPr>
              <a:t>nuevas estrategias de ruteo se agregan sin tocar el nucleo (interfaz RouteStrategy).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96A75"/>
                </a:solidFill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0B3D66"/>
                </a:solidFill>
              </a:rPr>
              <a:t>Capas con fachada central y patrones desacoplados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972800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/>
                <a:gridCol w="4937760"/>
                <a:gridCol w="3108960"/>
              </a:tblGrid>
              <a:tr h="4572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Capa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Rol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Patrones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Presentacion (CLI)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Demo por consola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-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Aplicacion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Navigator (fachada) + CommandHistory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Facade, Observer, Command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Logica de ruteo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RoutePlanner, RouteStrategy, grafo y rutas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Strategy, Composite, Iterator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Infraestructura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TrafficControlCenter, metricas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Observer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6A75"/>
                </a:solidFill>
              </a:rPr>
              <a:t>Regla: las dependencias apuntan a interfaces y los patrones se modelan antes en UML.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96A75"/>
                </a:solidFill>
              </a:rPr>
              <a:t>MODELADO 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0B3D66"/>
                </a:solidFill>
              </a:rPr>
              <a:t>Diagrama de componentes</a:t>
            </a:r>
          </a:p>
        </p:txBody>
      </p:sp>
      <p:pic>
        <p:nvPicPr>
          <p:cNvPr id="4" name="Picture 3" descr="compon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881360" cy="92328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6A75"/>
                </a:solidFill>
              </a:rPr>
              <a:t>Estructura y conectores entre capas.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96A75"/>
                </a:solidFill>
              </a:rPr>
              <a:t>MODELADO 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0B3D66"/>
                </a:solidFill>
              </a:rPr>
              <a:t>Diagrama de clases</a:t>
            </a:r>
          </a:p>
        </p:txBody>
      </p:sp>
      <p:pic>
        <p:nvPicPr>
          <p:cNvPr id="4" name="Picture 3" descr="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881360" cy="91115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6A75"/>
                </a:solidFill>
              </a:rPr>
              <a:t>Colaboracion de los cinco patrones.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96A75"/>
                </a:solidFill>
              </a:rPr>
              <a:t>MODELADO 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0B3D66"/>
                </a:solidFill>
              </a:rPr>
              <a:t>Diagrama de secuencia</a:t>
            </a:r>
          </a:p>
        </p:txBody>
      </p:sp>
      <p:pic>
        <p:nvPicPr>
          <p:cNvPr id="4" name="Picture 3" descr="secu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881360" cy="8792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6A75"/>
                </a:solidFill>
              </a:rPr>
              <a:t>Solicitud de ruta, notificacion y replanificacion.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96A75"/>
                </a:solidFill>
              </a:rPr>
              <a:t>MODELADO 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0B3D66"/>
                </a:solidFill>
              </a:rPr>
              <a:t>Diagrama de actividad</a:t>
            </a:r>
          </a:p>
        </p:txBody>
      </p:sp>
      <p:pic>
        <p:nvPicPr>
          <p:cNvPr id="4" name="Picture 3" descr="activ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881360" cy="171040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6A75"/>
                </a:solidFill>
              </a:rPr>
              <a:t>Flujo completo: de la solicitud a la navegacion paso a paso.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96A75"/>
                </a:solidFill>
              </a:rPr>
              <a:t>PATRONES DE DISENO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0B3D66"/>
                </a:solidFill>
              </a:rPr>
              <a:t>Cinco patrones para navegar optimamente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972800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8595360"/>
              </a:tblGrid>
              <a:tr h="4572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Patron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Aplicacion en MAREA ROUTE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12C33"/>
                          </a:solidFill>
                        </a:rPr>
                        <a:t>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12C33"/>
                          </a:solidFill>
                        </a:rPr>
                        <a:t>RoutePlanner conmuta Dijkstra, A* y modo en vivo (marea).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12C33"/>
                          </a:solidFill>
                        </a:rPr>
                        <a:t>Observer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12C33"/>
                          </a:solidFill>
                        </a:rPr>
                        <a:t>TrafficControlCenter notifica a Navigator; activa replanificacion.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12C33"/>
                          </a:solidFill>
                        </a:rPr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12C33"/>
                          </a:solidFill>
                        </a:rPr>
                        <a:t>RerouteCommand / ChangeDestinationCommand con undo en CommandHistory.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12C33"/>
                          </a:solidFill>
                        </a:rPr>
                        <a:t>Iterator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12C33"/>
                          </a:solidFill>
                        </a:rPr>
                        <a:t>RouteIterator entrega instrucciones paso a paso desacopladas.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12C33"/>
                          </a:solidFill>
                        </a:rPr>
                        <a:t>Composite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12C33"/>
                          </a:solidFill>
                        </a:rPr>
                        <a:t>PlaceGroup navega grupos de destinos como un unico destino.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96A75"/>
                </a:solidFill>
              </a:rPr>
              <a:t>PROTOTIPO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0B3D66"/>
                </a:solidFill>
              </a:rPr>
              <a:t>Python 3 estandar, reproducible y probado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212C33"/>
                </a:solidFill>
                <a:latin typeface="Consolas"/>
              </a:rPr>
              <a:t>[4] PATRON STRATEGY: comparacion de estrategias UNAB -&gt; Estadio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12C33"/>
                </a:solidFill>
                <a:latin typeface="Consolas"/>
              </a:rPr>
              <a:t>+---------------------------------------+-------+-----------+-----------+-------+------+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12C33"/>
                </a:solidFill>
                <a:latin typeface="Consolas"/>
              </a:rPr>
              <a:t>|               Estrategia              |   km  | min plano | min marea | nodos |  ms  |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12C33"/>
                </a:solidFill>
                <a:latin typeface="Consolas"/>
              </a:rPr>
              <a:t>+---------------------------------------+-------+-----------+-----------+-------+------+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12C33"/>
                </a:solidFill>
                <a:latin typeface="Consolas"/>
              </a:rPr>
              <a:t>| BFS - saltos (linea base)             | 15.46 | 16.87     | 17.52     | 11    | 0.03 |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12C33"/>
                </a:solidFill>
                <a:latin typeface="Consolas"/>
              </a:rPr>
              <a:t>| Dijkstra - minima distancia           | 10.03 | 21.87     | 29.74     | 15    | 0.03 |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12C33"/>
                </a:solidFill>
                <a:latin typeface="Consolas"/>
              </a:rPr>
              <a:t>| Dijkstra - tiempo plano (sin trafico) | 11.25 | 13.65     | 19.78     | 11    | 0.02 |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12C33"/>
                </a:solidFill>
                <a:latin typeface="Consolas"/>
              </a:rPr>
              <a:t>| Dijkstra - tiempo en vivo (marea)     | 15.46 | 16.87     | 17.52     | 11    | 0.02 |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12C33"/>
                </a:solidFill>
                <a:latin typeface="Consolas"/>
              </a:rPr>
              <a:t>| A* - tiempo en vivo + heuristica      | 15.46 | 16.87     | 17.52     | 10    | 0.03 |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12C33"/>
                </a:solidFill>
                <a:latin typeface="Consolas"/>
              </a:rPr>
              <a:t>+---------------------------------------+-------+-----------+-----------+-------+------+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0B3D66"/>
                </a:solidFill>
              </a:rPr>
              <a:t>•  </a:t>
            </a:r>
            <a:r>
              <a:rPr sz="1500" b="1">
                <a:solidFill>
                  <a:srgbClr val="212C33"/>
                </a:solidFill>
              </a:rPr>
              <a:t>11 pruebas unitarias: </a:t>
            </a:r>
            <a:r>
              <a:rPr sz="1500">
                <a:solidFill>
                  <a:srgbClr val="212C33"/>
                </a:solidFill>
              </a:rPr>
              <a:t>optimo de Dijkstra, A* == Dijkstra en vivo, Observer, Command, Iterator y Composite.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0B3D66"/>
                </a:solidFill>
              </a:rPr>
              <a:t>•  </a:t>
            </a:r>
            <a:r>
              <a:rPr sz="1500" b="1">
                <a:solidFill>
                  <a:srgbClr val="212C33"/>
                </a:solidFill>
              </a:rPr>
              <a:t>Reproduccion: </a:t>
            </a:r>
            <a:r>
              <a:rPr sz="1500">
                <a:solidFill>
                  <a:srgbClr val="212C33"/>
                </a:solidFill>
              </a:rPr>
              <a:t>python -m navigation.demo  |  python -m unittest discover -s tests  |  python -m benchmarks.run_benchmarks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96A75"/>
                </a:solidFill>
              </a:rPr>
              <a:t>RESULTADOS DEL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0B3D66"/>
                </a:solidFill>
              </a:rPr>
              <a:t>Metricas: 30 pares OD x 5 estrategias x 2 escenarios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8229600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Estrategia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km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min (marea)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nodos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ms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BFS - saltos (linea base)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12.85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19.53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73.5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0.093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Dijkstra - minima distancia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11.15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18.07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67.8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0.156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Dijkstra - tiempo plano (sin trafico)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11.15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18.26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70.8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0.165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Dijkstra - tiempo en vivo (marea)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11.45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16.94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71.5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0.185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A* - tiempo en vivo + heuristica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11.45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16.94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48.5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C33"/>
                          </a:solidFill>
                        </a:rPr>
                        <a:t>0.229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0" y="1828800"/>
            <a:ext cx="2651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0B3D66"/>
                </a:solidFill>
              </a:rPr>
              <a:t>•  </a:t>
            </a:r>
            <a:r>
              <a:rPr sz="1500" b="1">
                <a:solidFill>
                  <a:srgbClr val="212C33"/>
                </a:solidFill>
              </a:rPr>
              <a:t>Ahorro vivo vs minima (marea): </a:t>
            </a:r>
            <a:r>
              <a:rPr sz="1500">
                <a:solidFill>
                  <a:srgbClr val="212C33"/>
                </a:solidFill>
              </a:rPr>
              <a:t>1.13 min promedio.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0B3D66"/>
                </a:solidFill>
              </a:rPr>
              <a:t>•  </a:t>
            </a:r>
            <a:r>
              <a:rPr sz="1500" b="1">
                <a:solidFill>
                  <a:srgbClr val="212C33"/>
                </a:solidFill>
              </a:rPr>
              <a:t>A* expande 32.2% menos nodos: </a:t>
            </a:r>
            <a:r>
              <a:rPr sz="1500">
                <a:solidFill>
                  <a:srgbClr val="212C33"/>
                </a:solidFill>
              </a:rPr>
              <a:t>mismo camino optimo que Dijkstra.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0B3D66"/>
                </a:solidFill>
              </a:rPr>
              <a:t>•  </a:t>
            </a:r>
            <a:r>
              <a:rPr sz="1500" b="1">
                <a:solidFill>
                  <a:srgbClr val="212C33"/>
                </a:solidFill>
              </a:rPr>
              <a:t>Vivo supera al plan estatico en 7.2% </a:t>
            </a:r>
            <a:r>
              <a:rPr sz="1500">
                <a:solidFill>
                  <a:srgbClr val="212C33"/>
                </a:solidFill>
              </a:rPr>
              <a:t>durante la marea.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96A75"/>
                </a:solidFill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0B3D66"/>
                </a:solidFill>
              </a:rPr>
              <a:t>Optimizar no es solo acortar distancias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0B3D66"/>
                </a:solidFill>
              </a:rPr>
              <a:t>•  </a:t>
            </a:r>
            <a:r>
              <a:rPr sz="1500">
                <a:solidFill>
                  <a:srgbClr val="212C33"/>
                </a:solidFill>
              </a:rPr>
              <a:t>La arquitectura por capas + fachada aislaron algoritmos, trafico y presentacion.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0B3D66"/>
                </a:solidFill>
              </a:rPr>
              <a:t>•  </a:t>
            </a:r>
            <a:r>
              <a:rPr sz="1500">
                <a:solidFill>
                  <a:srgbClr val="212C33"/>
                </a:solidFill>
              </a:rPr>
              <a:t>Strategy hizo medible la optimizacion: el modo en vivo gana durante la marea.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0B3D66"/>
                </a:solidFill>
              </a:rPr>
              <a:t>•  </a:t>
            </a:r>
            <a:r>
              <a:rPr sz="1500">
                <a:solidFill>
                  <a:srgbClr val="212C33"/>
                </a:solidFill>
              </a:rPr>
              <a:t>Observer permitio replanificar sin intervencion del usuario.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0B3D66"/>
                </a:solidFill>
              </a:rPr>
              <a:t>•  </a:t>
            </a:r>
            <a:r>
              <a:rPr sz="1500">
                <a:solidFill>
                  <a:srgbClr val="212C33"/>
                </a:solidFill>
              </a:rPr>
              <a:t>Command, Iterator y Composite sumaron usabilidad y extensiones sin tocar el nucleo.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0B3D66"/>
                </a:solidFill>
              </a:rPr>
              <a:t>•  </a:t>
            </a:r>
            <a:r>
              <a:rPr sz="1500">
                <a:solidFill>
                  <a:srgbClr val="212C33"/>
                </a:solidFill>
              </a:rPr>
              <a:t>Trabajo futuro: grafos jerarquicos, dato historico/en vivo y API REST de rutas.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96A75"/>
                </a:solidFill>
              </a:rPr>
              <a:t>Video de demostracion: enlace privado (YouTube) incluido en el informe y el LMS.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66"/>
                </a:solidFill>
              </a:rPr>
              <a:t>Reproduccion y evidencias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75E8C"/>
                </a:solidFill>
                <a:latin typeface="Consolas"/>
              </a:rPr>
              <a:t>python -m navigation.demo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75E8C"/>
                </a:solidFill>
                <a:latin typeface="Consolas"/>
              </a:rPr>
              <a:t>python -m unittest discover -s tests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75E8C"/>
                </a:solidFill>
                <a:latin typeface="Consolas"/>
              </a:rPr>
              <a:t>python -m benchmarks.run_benchmarks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663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12C33"/>
                </a:solidFill>
              </a:rPr>
              <a:t>Evidencias: UML en docs/uml/, metricas en docs/results/benchmark.json, informe en docs/informe/.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3D66"/>
                </a:solidFill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